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2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7DE5FC9-239B-4415-88B0-EBB193F93722}">
          <p14:sldIdLst>
            <p14:sldId id="256"/>
            <p14:sldId id="257"/>
            <p14:sldId id="258"/>
            <p14:sldId id="259"/>
          </p14:sldIdLst>
        </p14:section>
        <p14:section name="Untitled Section" id="{B6138B52-7308-46ED-BA42-CEC5D1EFCEA1}">
          <p14:sldIdLst>
            <p14:sldId id="260"/>
            <p14:sldId id="261"/>
            <p14:sldId id="262"/>
            <p14:sldId id="263"/>
            <p14:sldId id="265"/>
            <p14:sldId id="266"/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510B83-BF5C-402A-A196-1BBA96106577}" v="22" dt="2024-12-07T15:16:39.4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shwa patel" userId="b62d3c14ad4e58f3" providerId="LiveId" clId="{07510B83-BF5C-402A-A196-1BBA96106577}"/>
    <pc:docChg chg="modSld">
      <pc:chgData name="vishwa patel" userId="b62d3c14ad4e58f3" providerId="LiveId" clId="{07510B83-BF5C-402A-A196-1BBA96106577}" dt="2024-12-07T15:16:39.454" v="21"/>
      <pc:docMkLst>
        <pc:docMk/>
      </pc:docMkLst>
      <pc:sldChg chg="modTransition">
        <pc:chgData name="vishwa patel" userId="b62d3c14ad4e58f3" providerId="LiveId" clId="{07510B83-BF5C-402A-A196-1BBA96106577}" dt="2024-12-07T15:13:29.989" v="1"/>
        <pc:sldMkLst>
          <pc:docMk/>
          <pc:sldMk cId="2718217360" sldId="256"/>
        </pc:sldMkLst>
      </pc:sldChg>
      <pc:sldChg chg="modTransition">
        <pc:chgData name="vishwa patel" userId="b62d3c14ad4e58f3" providerId="LiveId" clId="{07510B83-BF5C-402A-A196-1BBA96106577}" dt="2024-12-07T15:14:30.393" v="8"/>
        <pc:sldMkLst>
          <pc:docMk/>
          <pc:sldMk cId="729444304" sldId="257"/>
        </pc:sldMkLst>
      </pc:sldChg>
      <pc:sldChg chg="modTransition">
        <pc:chgData name="vishwa patel" userId="b62d3c14ad4e58f3" providerId="LiveId" clId="{07510B83-BF5C-402A-A196-1BBA96106577}" dt="2024-12-07T15:14:39.317" v="9"/>
        <pc:sldMkLst>
          <pc:docMk/>
          <pc:sldMk cId="574051419" sldId="258"/>
        </pc:sldMkLst>
      </pc:sldChg>
      <pc:sldChg chg="modTransition">
        <pc:chgData name="vishwa patel" userId="b62d3c14ad4e58f3" providerId="LiveId" clId="{07510B83-BF5C-402A-A196-1BBA96106577}" dt="2024-12-07T15:14:52.435" v="10"/>
        <pc:sldMkLst>
          <pc:docMk/>
          <pc:sldMk cId="2827952007" sldId="259"/>
        </pc:sldMkLst>
      </pc:sldChg>
      <pc:sldChg chg="modTransition">
        <pc:chgData name="vishwa patel" userId="b62d3c14ad4e58f3" providerId="LiveId" clId="{07510B83-BF5C-402A-A196-1BBA96106577}" dt="2024-12-07T15:15:09.087" v="11"/>
        <pc:sldMkLst>
          <pc:docMk/>
          <pc:sldMk cId="947093427" sldId="260"/>
        </pc:sldMkLst>
      </pc:sldChg>
      <pc:sldChg chg="modTransition">
        <pc:chgData name="vishwa patel" userId="b62d3c14ad4e58f3" providerId="LiveId" clId="{07510B83-BF5C-402A-A196-1BBA96106577}" dt="2024-12-07T15:15:24.171" v="12"/>
        <pc:sldMkLst>
          <pc:docMk/>
          <pc:sldMk cId="2114339132" sldId="261"/>
        </pc:sldMkLst>
      </pc:sldChg>
      <pc:sldChg chg="modTransition">
        <pc:chgData name="vishwa patel" userId="b62d3c14ad4e58f3" providerId="LiveId" clId="{07510B83-BF5C-402A-A196-1BBA96106577}" dt="2024-12-07T15:15:32.840" v="13"/>
        <pc:sldMkLst>
          <pc:docMk/>
          <pc:sldMk cId="1907245237" sldId="262"/>
        </pc:sldMkLst>
      </pc:sldChg>
      <pc:sldChg chg="modTransition">
        <pc:chgData name="vishwa patel" userId="b62d3c14ad4e58f3" providerId="LiveId" clId="{07510B83-BF5C-402A-A196-1BBA96106577}" dt="2024-12-07T15:15:42.428" v="14"/>
        <pc:sldMkLst>
          <pc:docMk/>
          <pc:sldMk cId="1447730934" sldId="263"/>
        </pc:sldMkLst>
      </pc:sldChg>
      <pc:sldChg chg="modTransition">
        <pc:chgData name="vishwa patel" userId="b62d3c14ad4e58f3" providerId="LiveId" clId="{07510B83-BF5C-402A-A196-1BBA96106577}" dt="2024-12-07T15:15:47.784" v="15"/>
        <pc:sldMkLst>
          <pc:docMk/>
          <pc:sldMk cId="2978344039" sldId="265"/>
        </pc:sldMkLst>
      </pc:sldChg>
      <pc:sldChg chg="modTransition">
        <pc:chgData name="vishwa patel" userId="b62d3c14ad4e58f3" providerId="LiveId" clId="{07510B83-BF5C-402A-A196-1BBA96106577}" dt="2024-12-07T15:16:08.980" v="18"/>
        <pc:sldMkLst>
          <pc:docMk/>
          <pc:sldMk cId="2828259232" sldId="266"/>
        </pc:sldMkLst>
      </pc:sldChg>
      <pc:sldChg chg="modTransition">
        <pc:chgData name="vishwa patel" userId="b62d3c14ad4e58f3" providerId="LiveId" clId="{07510B83-BF5C-402A-A196-1BBA96106577}" dt="2024-12-07T15:16:20.442" v="19"/>
        <pc:sldMkLst>
          <pc:docMk/>
          <pc:sldMk cId="2529998484" sldId="267"/>
        </pc:sldMkLst>
      </pc:sldChg>
      <pc:sldChg chg="modTransition">
        <pc:chgData name="vishwa patel" userId="b62d3c14ad4e58f3" providerId="LiveId" clId="{07510B83-BF5C-402A-A196-1BBA96106577}" dt="2024-12-07T15:16:28.776" v="20"/>
        <pc:sldMkLst>
          <pc:docMk/>
          <pc:sldMk cId="1675427096" sldId="268"/>
        </pc:sldMkLst>
      </pc:sldChg>
      <pc:sldChg chg="modTransition">
        <pc:chgData name="vishwa patel" userId="b62d3c14ad4e58f3" providerId="LiveId" clId="{07510B83-BF5C-402A-A196-1BBA96106577}" dt="2024-12-07T15:16:39.454" v="21"/>
        <pc:sldMkLst>
          <pc:docMk/>
          <pc:sldMk cId="4143183742" sldId="26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12/7/2024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536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smtClean="0"/>
              <a:t>12/7/2024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0507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12/7/2024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6684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smtClean="0"/>
              <a:t>12/7/2024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201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12/7/2024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354456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smtClean="0"/>
              <a:t>12/7/2024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49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smtClean="0"/>
              <a:t>12/7/2024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0811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smtClean="0"/>
              <a:t>12/7/2024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5775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0DB6-F5C7-45FB-8CF3-31B45F9C2DAC}" type="datetimeFigureOut">
              <a:rPr lang="en-US" smtClean="0"/>
              <a:t>12/7/2024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532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12/7/2024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934735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12/7/2024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869341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12/7/2024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203953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12/7/2024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98811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12/7/2024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228358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12/7/2024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024577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smtClean="0"/>
              <a:t>12/7/2024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77567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smtClean="0"/>
              <a:t>12/7/2024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7910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smtClean="0"/>
              <a:t>12/7/2024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115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C5AFA-3221-0259-0FD1-CC0866EA4B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Algorithm presentation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329A5-47F8-726C-392B-7C12F17DB3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Topic : Huffman coding</a:t>
            </a:r>
          </a:p>
        </p:txBody>
      </p:sp>
    </p:spTree>
    <p:extLst>
      <p:ext uri="{BB962C8B-B14F-4D97-AF65-F5344CB8AC3E}">
        <p14:creationId xmlns:p14="http://schemas.microsoft.com/office/powerpoint/2010/main" val="2718217360"/>
      </p:ext>
    </p:extLst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D7A9A-0E02-B855-3A1B-4B609A74A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4838C-155B-1739-E163-27E85CFF4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1.Definition</a:t>
            </a:r>
          </a:p>
          <a:p>
            <a:r>
              <a:rPr lang="en-IN" dirty="0"/>
              <a:t>2.Simulation</a:t>
            </a:r>
          </a:p>
          <a:p>
            <a:r>
              <a:rPr lang="en-IN" dirty="0"/>
              <a:t>3.Time Complexity</a:t>
            </a:r>
          </a:p>
          <a:p>
            <a:r>
              <a:rPr lang="en-IN" dirty="0"/>
              <a:t>4.Applicatio</a:t>
            </a:r>
          </a:p>
          <a:p>
            <a:r>
              <a:rPr lang="en-IN" dirty="0"/>
              <a:t>5.Advantage /Disadvantages </a:t>
            </a:r>
          </a:p>
        </p:txBody>
      </p:sp>
    </p:spTree>
    <p:extLst>
      <p:ext uri="{BB962C8B-B14F-4D97-AF65-F5344CB8AC3E}">
        <p14:creationId xmlns:p14="http://schemas.microsoft.com/office/powerpoint/2010/main" val="72944430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4F512-9481-0D4F-795D-C7E6F5798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3DF53-0435-668E-F9E1-95F48E1B8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Huffman Coding is a lossless data compression algorithm. The idea is to assign variable-length codes to assigned codes are based on the frequencies of the assigned codes are based on the frequencies of corresponding characters.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The most frequent character gets the smallest code and the least frequent character gets the largest code.</a:t>
            </a:r>
          </a:p>
        </p:txBody>
      </p:sp>
    </p:spTree>
    <p:extLst>
      <p:ext uri="{BB962C8B-B14F-4D97-AF65-F5344CB8AC3E}">
        <p14:creationId xmlns:p14="http://schemas.microsoft.com/office/powerpoint/2010/main" val="5740514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23721-7303-1302-0DB4-A7BF9B6DB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600" dirty="0"/>
              <a:t>Message –BCCABBDDAECCBBAEDDCC</a:t>
            </a:r>
            <a:br>
              <a:rPr lang="en-IN" sz="3600" dirty="0"/>
            </a:br>
            <a:r>
              <a:rPr lang="en-IN" sz="3200" dirty="0"/>
              <a:t>Length-20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76333ED-2EEE-BE54-2B9A-2BE44A9C1E03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158704123"/>
              </p:ext>
            </p:extLst>
          </p:nvPr>
        </p:nvGraphicFramePr>
        <p:xfrm>
          <a:off x="245807" y="2060575"/>
          <a:ext cx="3529779" cy="3526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4271">
                  <a:extLst>
                    <a:ext uri="{9D8B030D-6E8A-4147-A177-3AD203B41FA5}">
                      <a16:colId xmlns:a16="http://schemas.microsoft.com/office/drawing/2014/main" val="1251791075"/>
                    </a:ext>
                  </a:extLst>
                </a:gridCol>
                <a:gridCol w="1237754">
                  <a:extLst>
                    <a:ext uri="{9D8B030D-6E8A-4147-A177-3AD203B41FA5}">
                      <a16:colId xmlns:a16="http://schemas.microsoft.com/office/drawing/2014/main" val="944305153"/>
                    </a:ext>
                  </a:extLst>
                </a:gridCol>
                <a:gridCol w="1237754">
                  <a:extLst>
                    <a:ext uri="{9D8B030D-6E8A-4147-A177-3AD203B41FA5}">
                      <a16:colId xmlns:a16="http://schemas.microsoft.com/office/drawing/2014/main" val="59204422"/>
                    </a:ext>
                  </a:extLst>
                </a:gridCol>
              </a:tblGrid>
              <a:tr h="577210">
                <a:tc>
                  <a:txBody>
                    <a:bodyPr/>
                    <a:lstStyle/>
                    <a:p>
                      <a:r>
                        <a:rPr lang="en-IN" dirty="0"/>
                        <a:t>Letter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ASCII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Binary 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7647738"/>
                  </a:ext>
                </a:extLst>
              </a:tr>
              <a:tr h="577210">
                <a:tc>
                  <a:txBody>
                    <a:bodyPr/>
                    <a:lstStyle/>
                    <a:p>
                      <a:r>
                        <a:rPr lang="en-IN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01000001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0705297"/>
                  </a:ext>
                </a:extLst>
              </a:tr>
              <a:tr h="577210">
                <a:tc>
                  <a:txBody>
                    <a:bodyPr/>
                    <a:lstStyle/>
                    <a:p>
                      <a:r>
                        <a:rPr lang="en-IN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01000010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401531"/>
                  </a:ext>
                </a:extLst>
              </a:tr>
              <a:tr h="577210">
                <a:tc>
                  <a:txBody>
                    <a:bodyPr/>
                    <a:lstStyle/>
                    <a:p>
                      <a:r>
                        <a:rPr lang="en-IN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01000011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3593643"/>
                  </a:ext>
                </a:extLst>
              </a:tr>
              <a:tr h="577210">
                <a:tc>
                  <a:txBody>
                    <a:bodyPr/>
                    <a:lstStyle/>
                    <a:p>
                      <a:r>
                        <a:rPr lang="en-IN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01000100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5673869"/>
                  </a:ext>
                </a:extLst>
              </a:tr>
              <a:tr h="577210">
                <a:tc>
                  <a:txBody>
                    <a:bodyPr/>
                    <a:lstStyle/>
                    <a:p>
                      <a:r>
                        <a:rPr lang="en-IN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01000101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7732859"/>
                  </a:ext>
                </a:extLst>
              </a:tr>
            </a:tbl>
          </a:graphicData>
        </a:graphic>
      </p:graphicFrame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316C05-7F65-7454-BB63-60F3B5E981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24516" y="2056092"/>
            <a:ext cx="7305367" cy="4200245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In Electric components the alphabet is sent through ASCII code. The ASCII code letter capital A is 65 and we need 8 bis binary to convert 65.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For 1 letter we need 8 bits</a:t>
            </a:r>
          </a:p>
          <a:p>
            <a:r>
              <a:rPr lang="en-IN" dirty="0"/>
              <a:t>For 20 letter we need 8x20=160 bits</a:t>
            </a:r>
          </a:p>
        </p:txBody>
      </p:sp>
    </p:spTree>
    <p:extLst>
      <p:ext uri="{BB962C8B-B14F-4D97-AF65-F5344CB8AC3E}">
        <p14:creationId xmlns:p14="http://schemas.microsoft.com/office/powerpoint/2010/main" val="28279520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6B3AD77-353F-AC42-650E-07D5D48C2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103239"/>
            <a:ext cx="9404723" cy="1750009"/>
          </a:xfrm>
        </p:spPr>
        <p:txBody>
          <a:bodyPr/>
          <a:lstStyle/>
          <a:p>
            <a:pPr algn="ctr"/>
            <a:r>
              <a:rPr lang="en-IN" dirty="0"/>
              <a:t>Simulation</a:t>
            </a:r>
            <a:br>
              <a:rPr lang="en-IN" dirty="0"/>
            </a:br>
            <a:br>
              <a:rPr lang="en-IN" dirty="0"/>
            </a:br>
            <a:r>
              <a:rPr lang="en-IN" sz="2000" dirty="0"/>
              <a:t>Message : BCCABBDDAECCBBAEDDCC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A040197-9124-5E2A-4567-9C31934323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6141" y="2060575"/>
            <a:ext cx="9404723" cy="4694186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First of all place the counts in increasing order then take minimum and add them now the root node of letter E and A is 5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DFE1B80C-E035-2067-AE40-DF4BA0EC679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80695608"/>
              </p:ext>
            </p:extLst>
          </p:nvPr>
        </p:nvGraphicFramePr>
        <p:xfrm>
          <a:off x="10264877" y="2055812"/>
          <a:ext cx="1700982" cy="3263442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850491">
                  <a:extLst>
                    <a:ext uri="{9D8B030D-6E8A-4147-A177-3AD203B41FA5}">
                      <a16:colId xmlns:a16="http://schemas.microsoft.com/office/drawing/2014/main" val="584362355"/>
                    </a:ext>
                  </a:extLst>
                </a:gridCol>
                <a:gridCol w="850491">
                  <a:extLst>
                    <a:ext uri="{9D8B030D-6E8A-4147-A177-3AD203B41FA5}">
                      <a16:colId xmlns:a16="http://schemas.microsoft.com/office/drawing/2014/main" val="2606345912"/>
                    </a:ext>
                  </a:extLst>
                </a:gridCol>
              </a:tblGrid>
              <a:tr h="543907">
                <a:tc>
                  <a:txBody>
                    <a:bodyPr/>
                    <a:lstStyle/>
                    <a:p>
                      <a:r>
                        <a:rPr lang="en-IN" dirty="0"/>
                        <a:t>Letter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2439862"/>
                  </a:ext>
                </a:extLst>
              </a:tr>
              <a:tr h="543907">
                <a:tc>
                  <a:txBody>
                    <a:bodyPr/>
                    <a:lstStyle/>
                    <a:p>
                      <a:r>
                        <a:rPr lang="en-IN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9246531"/>
                  </a:ext>
                </a:extLst>
              </a:tr>
              <a:tr h="543907">
                <a:tc>
                  <a:txBody>
                    <a:bodyPr/>
                    <a:lstStyle/>
                    <a:p>
                      <a:r>
                        <a:rPr lang="en-IN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7527642"/>
                  </a:ext>
                </a:extLst>
              </a:tr>
              <a:tr h="543907">
                <a:tc>
                  <a:txBody>
                    <a:bodyPr/>
                    <a:lstStyle/>
                    <a:p>
                      <a:r>
                        <a:rPr lang="en-IN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9201568"/>
                  </a:ext>
                </a:extLst>
              </a:tr>
              <a:tr h="543907">
                <a:tc>
                  <a:txBody>
                    <a:bodyPr/>
                    <a:lstStyle/>
                    <a:p>
                      <a:r>
                        <a:rPr lang="en-IN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1163316"/>
                  </a:ext>
                </a:extLst>
              </a:tr>
              <a:tr h="543907">
                <a:tc>
                  <a:txBody>
                    <a:bodyPr/>
                    <a:lstStyle/>
                    <a:p>
                      <a:r>
                        <a:rPr lang="en-IN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2952049"/>
                  </a:ext>
                </a:extLst>
              </a:tr>
            </a:tbl>
          </a:graphicData>
        </a:graphic>
      </p:graphicFrame>
      <p:sp>
        <p:nvSpPr>
          <p:cNvPr id="8" name="Oval 7">
            <a:extLst>
              <a:ext uri="{FF2B5EF4-FFF2-40B4-BE49-F238E27FC236}">
                <a16:creationId xmlns:a16="http://schemas.microsoft.com/office/drawing/2014/main" id="{1BF6490C-4F3D-3691-5995-D123F0A7E8CB}"/>
              </a:ext>
            </a:extLst>
          </p:cNvPr>
          <p:cNvSpPr/>
          <p:nvPr/>
        </p:nvSpPr>
        <p:spPr>
          <a:xfrm>
            <a:off x="1288025" y="3950468"/>
            <a:ext cx="629265" cy="61170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5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6FAA4D8-541C-CAA8-579C-7B477389267A}"/>
              </a:ext>
            </a:extLst>
          </p:cNvPr>
          <p:cNvCxnSpPr>
            <a:stCxn id="8" idx="3"/>
          </p:cNvCxnSpPr>
          <p:nvPr/>
        </p:nvCxnSpPr>
        <p:spPr>
          <a:xfrm flipH="1">
            <a:off x="855406" y="4472587"/>
            <a:ext cx="524773" cy="846667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89B908A-5363-0548-38E3-0D01C758BEBC}"/>
              </a:ext>
            </a:extLst>
          </p:cNvPr>
          <p:cNvCxnSpPr>
            <a:stCxn id="8" idx="5"/>
          </p:cNvCxnSpPr>
          <p:nvPr/>
        </p:nvCxnSpPr>
        <p:spPr>
          <a:xfrm>
            <a:off x="1825136" y="4472587"/>
            <a:ext cx="318296" cy="846667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7204D8E0-6FDD-F97C-7014-AE91FDDA9D1B}"/>
              </a:ext>
            </a:extLst>
          </p:cNvPr>
          <p:cNvSpPr/>
          <p:nvPr/>
        </p:nvSpPr>
        <p:spPr>
          <a:xfrm>
            <a:off x="646111" y="5319254"/>
            <a:ext cx="524773" cy="38345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E-2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E7AE435-3A41-6A69-7644-D112A7A730A7}"/>
              </a:ext>
            </a:extLst>
          </p:cNvPr>
          <p:cNvSpPr/>
          <p:nvPr/>
        </p:nvSpPr>
        <p:spPr>
          <a:xfrm>
            <a:off x="1788051" y="5354231"/>
            <a:ext cx="792749" cy="348479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A-3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9483C61-3ABC-E27B-7803-FF5A99C9EE99}"/>
              </a:ext>
            </a:extLst>
          </p:cNvPr>
          <p:cNvSpPr/>
          <p:nvPr/>
        </p:nvSpPr>
        <p:spPr>
          <a:xfrm>
            <a:off x="2777445" y="5354231"/>
            <a:ext cx="663845" cy="348479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D-4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64C3099-F8AE-884E-8373-CEA2BFBA1F71}"/>
              </a:ext>
            </a:extLst>
          </p:cNvPr>
          <p:cNvSpPr/>
          <p:nvPr/>
        </p:nvSpPr>
        <p:spPr>
          <a:xfrm>
            <a:off x="3637935" y="5354231"/>
            <a:ext cx="663845" cy="348479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B-5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6C095DC-6619-0651-3A64-878DD198C6E0}"/>
              </a:ext>
            </a:extLst>
          </p:cNvPr>
          <p:cNvSpPr/>
          <p:nvPr/>
        </p:nvSpPr>
        <p:spPr>
          <a:xfrm>
            <a:off x="4498425" y="5354231"/>
            <a:ext cx="663845" cy="348479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C-6</a:t>
            </a:r>
          </a:p>
        </p:txBody>
      </p:sp>
    </p:spTree>
    <p:extLst>
      <p:ext uri="{BB962C8B-B14F-4D97-AF65-F5344CB8AC3E}">
        <p14:creationId xmlns:p14="http://schemas.microsoft.com/office/powerpoint/2010/main" val="9470934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5DE3-5C7C-B6C6-BFF9-D64F77820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98323"/>
            <a:ext cx="9404723" cy="1754925"/>
          </a:xfrm>
        </p:spPr>
        <p:txBody>
          <a:bodyPr/>
          <a:lstStyle/>
          <a:p>
            <a:pPr algn="ctr"/>
            <a:r>
              <a:rPr lang="en-IN" dirty="0"/>
              <a:t>Simulation</a:t>
            </a:r>
            <a:br>
              <a:rPr lang="en-IN" dirty="0"/>
            </a:br>
            <a:br>
              <a:rPr lang="en-IN" dirty="0"/>
            </a:br>
            <a:r>
              <a:rPr lang="en-IN" sz="2000" dirty="0"/>
              <a:t>Message : BCCABBDDAECCBBAEDDCC</a:t>
            </a:r>
            <a:br>
              <a:rPr lang="en-IN" dirty="0"/>
            </a:b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A2E432-5002-C689-1829-27892FE92B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156" y="2060575"/>
            <a:ext cx="8838678" cy="4195763"/>
          </a:xfrm>
        </p:spPr>
        <p:txBody>
          <a:bodyPr/>
          <a:lstStyle/>
          <a:p>
            <a:r>
              <a:rPr lang="en-IN" dirty="0"/>
              <a:t>Then between the root node 5 and counts take the minimum and add them up. Here 5 and 4 are minimum so we add them and make 9 as root node so continue the process.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45CF9022-454A-ED69-DD44-F2B5F3DDD0C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25324714"/>
              </p:ext>
            </p:extLst>
          </p:nvPr>
        </p:nvGraphicFramePr>
        <p:xfrm>
          <a:off x="10050834" y="2055813"/>
          <a:ext cx="1846198" cy="3414255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923099">
                  <a:extLst>
                    <a:ext uri="{9D8B030D-6E8A-4147-A177-3AD203B41FA5}">
                      <a16:colId xmlns:a16="http://schemas.microsoft.com/office/drawing/2014/main" val="4285581272"/>
                    </a:ext>
                  </a:extLst>
                </a:gridCol>
                <a:gridCol w="923099">
                  <a:extLst>
                    <a:ext uri="{9D8B030D-6E8A-4147-A177-3AD203B41FA5}">
                      <a16:colId xmlns:a16="http://schemas.microsoft.com/office/drawing/2014/main" val="2345256500"/>
                    </a:ext>
                  </a:extLst>
                </a:gridCol>
              </a:tblGrid>
              <a:tr h="682851">
                <a:tc>
                  <a:txBody>
                    <a:bodyPr/>
                    <a:lstStyle/>
                    <a:p>
                      <a:r>
                        <a:rPr lang="en-IN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177272"/>
                  </a:ext>
                </a:extLst>
              </a:tr>
              <a:tr h="682851">
                <a:tc>
                  <a:txBody>
                    <a:bodyPr/>
                    <a:lstStyle/>
                    <a:p>
                      <a:r>
                        <a:rPr lang="en-IN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6229476"/>
                  </a:ext>
                </a:extLst>
              </a:tr>
              <a:tr h="682851">
                <a:tc>
                  <a:txBody>
                    <a:bodyPr/>
                    <a:lstStyle/>
                    <a:p>
                      <a:r>
                        <a:rPr lang="en-IN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7019219"/>
                  </a:ext>
                </a:extLst>
              </a:tr>
              <a:tr h="682851">
                <a:tc>
                  <a:txBody>
                    <a:bodyPr/>
                    <a:lstStyle/>
                    <a:p>
                      <a:r>
                        <a:rPr lang="en-IN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7030488"/>
                  </a:ext>
                </a:extLst>
              </a:tr>
              <a:tr h="682851">
                <a:tc>
                  <a:txBody>
                    <a:bodyPr/>
                    <a:lstStyle/>
                    <a:p>
                      <a:r>
                        <a:rPr lang="en-IN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3575794"/>
                  </a:ext>
                </a:extLst>
              </a:tr>
            </a:tbl>
          </a:graphicData>
        </a:graphic>
      </p:graphicFrame>
      <p:sp>
        <p:nvSpPr>
          <p:cNvPr id="8" name="Oval 7">
            <a:extLst>
              <a:ext uri="{FF2B5EF4-FFF2-40B4-BE49-F238E27FC236}">
                <a16:creationId xmlns:a16="http://schemas.microsoft.com/office/drawing/2014/main" id="{F25ED7D3-99AF-DE30-6E6D-16A4C34E1228}"/>
              </a:ext>
            </a:extLst>
          </p:cNvPr>
          <p:cNvSpPr/>
          <p:nvPr/>
        </p:nvSpPr>
        <p:spPr>
          <a:xfrm>
            <a:off x="1531566" y="4070553"/>
            <a:ext cx="609600" cy="561668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9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71FE062-75FA-4BC1-20D1-107BDFDDF7F7}"/>
              </a:ext>
            </a:extLst>
          </p:cNvPr>
          <p:cNvCxnSpPr/>
          <p:nvPr/>
        </p:nvCxnSpPr>
        <p:spPr>
          <a:xfrm flipH="1">
            <a:off x="993058" y="4562168"/>
            <a:ext cx="589936" cy="570271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400C2FFA-8A9D-EB37-33AE-DC8DFD9458F2}"/>
              </a:ext>
            </a:extLst>
          </p:cNvPr>
          <p:cNvSpPr/>
          <p:nvPr/>
        </p:nvSpPr>
        <p:spPr>
          <a:xfrm>
            <a:off x="710189" y="5120877"/>
            <a:ext cx="481781" cy="481781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5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4FFD977-61F5-817A-5E7D-D6ADD25F9D2C}"/>
              </a:ext>
            </a:extLst>
          </p:cNvPr>
          <p:cNvCxnSpPr>
            <a:stCxn id="11" idx="3"/>
          </p:cNvCxnSpPr>
          <p:nvPr/>
        </p:nvCxnSpPr>
        <p:spPr>
          <a:xfrm flipH="1">
            <a:off x="434886" y="5532103"/>
            <a:ext cx="345858" cy="57200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4D6EC86-AEA9-0F02-75F8-18F83D4880B8}"/>
              </a:ext>
            </a:extLst>
          </p:cNvPr>
          <p:cNvCxnSpPr>
            <a:cxnSpLocks/>
          </p:cNvCxnSpPr>
          <p:nvPr/>
        </p:nvCxnSpPr>
        <p:spPr>
          <a:xfrm>
            <a:off x="1081817" y="5602658"/>
            <a:ext cx="235705" cy="501445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FAA93D6-C333-D48D-0645-E6F3AD98EA38}"/>
              </a:ext>
            </a:extLst>
          </p:cNvPr>
          <p:cNvCxnSpPr>
            <a:cxnSpLocks/>
          </p:cNvCxnSpPr>
          <p:nvPr/>
        </p:nvCxnSpPr>
        <p:spPr>
          <a:xfrm>
            <a:off x="1884744" y="4632221"/>
            <a:ext cx="0" cy="1471882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A6711C7A-F307-C2D3-4542-C3940ED188D0}"/>
              </a:ext>
            </a:extLst>
          </p:cNvPr>
          <p:cNvSpPr/>
          <p:nvPr/>
        </p:nvSpPr>
        <p:spPr>
          <a:xfrm>
            <a:off x="195047" y="6077140"/>
            <a:ext cx="630350" cy="36299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E-2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BA74715-F2D9-C1F3-D299-B9282B772E38}"/>
              </a:ext>
            </a:extLst>
          </p:cNvPr>
          <p:cNvSpPr/>
          <p:nvPr/>
        </p:nvSpPr>
        <p:spPr>
          <a:xfrm>
            <a:off x="1006242" y="6072877"/>
            <a:ext cx="609600" cy="412955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A-3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450EF54-C0E1-0430-EA27-BB3A3AF8C740}"/>
              </a:ext>
            </a:extLst>
          </p:cNvPr>
          <p:cNvSpPr/>
          <p:nvPr/>
        </p:nvSpPr>
        <p:spPr>
          <a:xfrm>
            <a:off x="1759192" y="6072877"/>
            <a:ext cx="609599" cy="367253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D-4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2AFD873-1493-E234-00AF-AD351A8839F6}"/>
              </a:ext>
            </a:extLst>
          </p:cNvPr>
          <p:cNvSpPr/>
          <p:nvPr/>
        </p:nvSpPr>
        <p:spPr>
          <a:xfrm>
            <a:off x="2566219" y="6072877"/>
            <a:ext cx="609600" cy="412955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B-5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9B5A647-2853-86C8-44D9-CA6A833FC539}"/>
              </a:ext>
            </a:extLst>
          </p:cNvPr>
          <p:cNvSpPr/>
          <p:nvPr/>
        </p:nvSpPr>
        <p:spPr>
          <a:xfrm>
            <a:off x="3373247" y="6072877"/>
            <a:ext cx="752949" cy="412955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C-6</a:t>
            </a:r>
          </a:p>
        </p:txBody>
      </p:sp>
    </p:spTree>
    <p:extLst>
      <p:ext uri="{BB962C8B-B14F-4D97-AF65-F5344CB8AC3E}">
        <p14:creationId xmlns:p14="http://schemas.microsoft.com/office/powerpoint/2010/main" val="21143391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DC828-13ED-D8B7-D66B-A19A882C8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0"/>
            <a:ext cx="9404723" cy="1853248"/>
          </a:xfrm>
        </p:spPr>
        <p:txBody>
          <a:bodyPr/>
          <a:lstStyle/>
          <a:p>
            <a:pPr algn="ctr"/>
            <a:r>
              <a:rPr lang="en-IN" dirty="0"/>
              <a:t>Simulation</a:t>
            </a:r>
            <a:br>
              <a:rPr lang="en-IN" dirty="0"/>
            </a:br>
            <a:br>
              <a:rPr lang="en-IN" dirty="0"/>
            </a:br>
            <a:r>
              <a:rPr lang="en-IN" sz="2000" dirty="0"/>
              <a:t>Message : BCCABBDDAECCBBAEDDCC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4A2122D-7944-BD87-AAF1-6D307BA7A0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4172153"/>
              </p:ext>
            </p:extLst>
          </p:nvPr>
        </p:nvGraphicFramePr>
        <p:xfrm>
          <a:off x="9950245" y="2052637"/>
          <a:ext cx="1779640" cy="4063025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889820">
                  <a:extLst>
                    <a:ext uri="{9D8B030D-6E8A-4147-A177-3AD203B41FA5}">
                      <a16:colId xmlns:a16="http://schemas.microsoft.com/office/drawing/2014/main" val="1986544500"/>
                    </a:ext>
                  </a:extLst>
                </a:gridCol>
                <a:gridCol w="889820">
                  <a:extLst>
                    <a:ext uri="{9D8B030D-6E8A-4147-A177-3AD203B41FA5}">
                      <a16:colId xmlns:a16="http://schemas.microsoft.com/office/drawing/2014/main" val="2359608434"/>
                    </a:ext>
                  </a:extLst>
                </a:gridCol>
              </a:tblGrid>
              <a:tr h="812605">
                <a:tc>
                  <a:txBody>
                    <a:bodyPr/>
                    <a:lstStyle/>
                    <a:p>
                      <a:r>
                        <a:rPr lang="en-IN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256697"/>
                  </a:ext>
                </a:extLst>
              </a:tr>
              <a:tr h="812605">
                <a:tc>
                  <a:txBody>
                    <a:bodyPr/>
                    <a:lstStyle/>
                    <a:p>
                      <a:r>
                        <a:rPr lang="en-IN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7477176"/>
                  </a:ext>
                </a:extLst>
              </a:tr>
              <a:tr h="812605">
                <a:tc>
                  <a:txBody>
                    <a:bodyPr/>
                    <a:lstStyle/>
                    <a:p>
                      <a:r>
                        <a:rPr lang="en-IN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3240801"/>
                  </a:ext>
                </a:extLst>
              </a:tr>
              <a:tr h="812605">
                <a:tc>
                  <a:txBody>
                    <a:bodyPr/>
                    <a:lstStyle/>
                    <a:p>
                      <a:r>
                        <a:rPr lang="en-IN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0022801"/>
                  </a:ext>
                </a:extLst>
              </a:tr>
              <a:tr h="812605">
                <a:tc>
                  <a:txBody>
                    <a:bodyPr/>
                    <a:lstStyle/>
                    <a:p>
                      <a:r>
                        <a:rPr lang="en-IN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4366469"/>
                  </a:ext>
                </a:extLst>
              </a:tr>
            </a:tbl>
          </a:graphicData>
        </a:graphic>
      </p:graphicFrame>
      <p:sp>
        <p:nvSpPr>
          <p:cNvPr id="5" name="Oval 4">
            <a:extLst>
              <a:ext uri="{FF2B5EF4-FFF2-40B4-BE49-F238E27FC236}">
                <a16:creationId xmlns:a16="http://schemas.microsoft.com/office/drawing/2014/main" id="{7394109A-EAD4-9CC6-5763-538A7E527780}"/>
              </a:ext>
            </a:extLst>
          </p:cNvPr>
          <p:cNvSpPr/>
          <p:nvPr/>
        </p:nvSpPr>
        <p:spPr>
          <a:xfrm>
            <a:off x="3531335" y="2173681"/>
            <a:ext cx="668594" cy="599768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20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997B703-8D0D-437F-AC98-A5B111ED4789}"/>
              </a:ext>
            </a:extLst>
          </p:cNvPr>
          <p:cNvCxnSpPr>
            <a:stCxn id="5" idx="3"/>
          </p:cNvCxnSpPr>
          <p:nvPr/>
        </p:nvCxnSpPr>
        <p:spPr>
          <a:xfrm flipH="1">
            <a:off x="3020058" y="2685615"/>
            <a:ext cx="609190" cy="675311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846C50C4-F6CC-C4B4-A733-4C5995F938A2}"/>
              </a:ext>
            </a:extLst>
          </p:cNvPr>
          <p:cNvSpPr/>
          <p:nvPr/>
        </p:nvSpPr>
        <p:spPr>
          <a:xfrm>
            <a:off x="2713703" y="3340509"/>
            <a:ext cx="462116" cy="464574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9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189A433-A432-8FA1-BEFA-823B8FE960E9}"/>
              </a:ext>
            </a:extLst>
          </p:cNvPr>
          <p:cNvCxnSpPr>
            <a:stCxn id="8" idx="3"/>
          </p:cNvCxnSpPr>
          <p:nvPr/>
        </p:nvCxnSpPr>
        <p:spPr>
          <a:xfrm flipH="1">
            <a:off x="2231923" y="3737048"/>
            <a:ext cx="549455" cy="592393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75707EF3-58AA-DDA4-F49F-70B965E9DE59}"/>
              </a:ext>
            </a:extLst>
          </p:cNvPr>
          <p:cNvSpPr/>
          <p:nvPr/>
        </p:nvSpPr>
        <p:spPr>
          <a:xfrm>
            <a:off x="1990458" y="4263864"/>
            <a:ext cx="442451" cy="462116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5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BD0D908-2673-8119-F122-1E2D8A62A88A}"/>
              </a:ext>
            </a:extLst>
          </p:cNvPr>
          <p:cNvCxnSpPr>
            <a:stCxn id="11" idx="3"/>
          </p:cNvCxnSpPr>
          <p:nvPr/>
        </p:nvCxnSpPr>
        <p:spPr>
          <a:xfrm flipH="1">
            <a:off x="1533832" y="4658305"/>
            <a:ext cx="521421" cy="71994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EB38403-9412-9AA1-A25C-E93A75DBD842}"/>
              </a:ext>
            </a:extLst>
          </p:cNvPr>
          <p:cNvCxnSpPr>
            <a:cxnSpLocks/>
            <a:stCxn id="11" idx="5"/>
            <a:endCxn id="27" idx="0"/>
          </p:cNvCxnSpPr>
          <p:nvPr/>
        </p:nvCxnSpPr>
        <p:spPr>
          <a:xfrm>
            <a:off x="2368114" y="4658305"/>
            <a:ext cx="452308" cy="71994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A595BB0-DC5B-2E6B-DB4E-96836D6FD5CA}"/>
              </a:ext>
            </a:extLst>
          </p:cNvPr>
          <p:cNvCxnSpPr>
            <a:cxnSpLocks/>
            <a:stCxn id="8" idx="5"/>
          </p:cNvCxnSpPr>
          <p:nvPr/>
        </p:nvCxnSpPr>
        <p:spPr>
          <a:xfrm>
            <a:off x="3108144" y="3737048"/>
            <a:ext cx="530327" cy="1586027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6525488-B966-CCBA-EE1E-2BA89FCDA6B7}"/>
              </a:ext>
            </a:extLst>
          </p:cNvPr>
          <p:cNvCxnSpPr>
            <a:stCxn id="5" idx="5"/>
          </p:cNvCxnSpPr>
          <p:nvPr/>
        </p:nvCxnSpPr>
        <p:spPr>
          <a:xfrm>
            <a:off x="4102016" y="2685615"/>
            <a:ext cx="697681" cy="983359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FA80BE3B-C333-BA39-C950-EA369F6C1926}"/>
              </a:ext>
            </a:extLst>
          </p:cNvPr>
          <p:cNvSpPr/>
          <p:nvPr/>
        </p:nvSpPr>
        <p:spPr>
          <a:xfrm>
            <a:off x="4482358" y="3737048"/>
            <a:ext cx="697680" cy="619433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11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8895A59-92D9-C6BC-041E-1B880AAE496A}"/>
              </a:ext>
            </a:extLst>
          </p:cNvPr>
          <p:cNvCxnSpPr>
            <a:cxnSpLocks/>
            <a:stCxn id="21" idx="3"/>
          </p:cNvCxnSpPr>
          <p:nvPr/>
        </p:nvCxnSpPr>
        <p:spPr>
          <a:xfrm flipH="1">
            <a:off x="4373645" y="4265767"/>
            <a:ext cx="210886" cy="1122388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4149453-5964-DD60-EDE6-8E49D03AF650}"/>
              </a:ext>
            </a:extLst>
          </p:cNvPr>
          <p:cNvCxnSpPr>
            <a:cxnSpLocks/>
            <a:stCxn id="21" idx="5"/>
            <a:endCxn id="32" idx="0"/>
          </p:cNvCxnSpPr>
          <p:nvPr/>
        </p:nvCxnSpPr>
        <p:spPr>
          <a:xfrm>
            <a:off x="5077865" y="4265767"/>
            <a:ext cx="450443" cy="1122388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40E2B3BA-327B-2A02-4727-EE206FD43FB9}"/>
              </a:ext>
            </a:extLst>
          </p:cNvPr>
          <p:cNvSpPr/>
          <p:nvPr/>
        </p:nvSpPr>
        <p:spPr>
          <a:xfrm>
            <a:off x="1220971" y="5380546"/>
            <a:ext cx="703904" cy="44245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E-2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70B3F79-EB47-E454-41BF-94648B120829}"/>
              </a:ext>
            </a:extLst>
          </p:cNvPr>
          <p:cNvSpPr/>
          <p:nvPr/>
        </p:nvSpPr>
        <p:spPr>
          <a:xfrm>
            <a:off x="2485837" y="5378245"/>
            <a:ext cx="669169" cy="464574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A-3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8DDE6EC-0FA2-C850-372C-D2FA43F9B9ED}"/>
              </a:ext>
            </a:extLst>
          </p:cNvPr>
          <p:cNvSpPr/>
          <p:nvPr/>
        </p:nvSpPr>
        <p:spPr>
          <a:xfrm>
            <a:off x="3370926" y="5378245"/>
            <a:ext cx="668594" cy="464574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D-4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7488DED-BCCF-928F-8EFC-A97F16961EE5}"/>
              </a:ext>
            </a:extLst>
          </p:cNvPr>
          <p:cNvSpPr/>
          <p:nvPr/>
        </p:nvSpPr>
        <p:spPr>
          <a:xfrm>
            <a:off x="4199929" y="5388155"/>
            <a:ext cx="740525" cy="444753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B-5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8B93E3A-20CA-6A8B-97DB-895C8D321F10}"/>
              </a:ext>
            </a:extLst>
          </p:cNvPr>
          <p:cNvSpPr/>
          <p:nvPr/>
        </p:nvSpPr>
        <p:spPr>
          <a:xfrm>
            <a:off x="5158045" y="5388155"/>
            <a:ext cx="740525" cy="434843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C-6</a:t>
            </a:r>
          </a:p>
        </p:txBody>
      </p:sp>
    </p:spTree>
    <p:extLst>
      <p:ext uri="{BB962C8B-B14F-4D97-AF65-F5344CB8AC3E}">
        <p14:creationId xmlns:p14="http://schemas.microsoft.com/office/powerpoint/2010/main" val="19072452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17F3E-3812-85AF-4114-8B844861D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78658"/>
            <a:ext cx="9404723" cy="1774590"/>
          </a:xfrm>
        </p:spPr>
        <p:txBody>
          <a:bodyPr/>
          <a:lstStyle/>
          <a:p>
            <a:pPr algn="ctr"/>
            <a:r>
              <a:rPr lang="en-IN" dirty="0"/>
              <a:t>Simulation</a:t>
            </a:r>
            <a:br>
              <a:rPr lang="en-IN" dirty="0"/>
            </a:br>
            <a:br>
              <a:rPr lang="en-IN" dirty="0"/>
            </a:br>
            <a:r>
              <a:rPr lang="en-IN" sz="2000" dirty="0"/>
              <a:t>Message : BCCABBDDAECCBBAEDDCC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5E84B-6035-69BF-BB16-D557FBAAB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156" y="2052918"/>
            <a:ext cx="12083844" cy="4805082"/>
          </a:xfrm>
        </p:spPr>
        <p:txBody>
          <a:bodyPr/>
          <a:lstStyle/>
          <a:p>
            <a:r>
              <a:rPr lang="en-IN" dirty="0"/>
              <a:t>Mark the left hand edge as 0 and right hand edge as 1 and then traverse from root node to any letter. Suppose we want to go A from root node so the distance will be 001, for B 10 and so on.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AAFEE58-736E-4123-6EEA-9AD869A5B2CA}"/>
              </a:ext>
            </a:extLst>
          </p:cNvPr>
          <p:cNvSpPr/>
          <p:nvPr/>
        </p:nvSpPr>
        <p:spPr>
          <a:xfrm>
            <a:off x="4119715" y="2971800"/>
            <a:ext cx="776749" cy="666135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20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D4B28EA-AEB9-7769-F9A4-C205FC84EF41}"/>
              </a:ext>
            </a:extLst>
          </p:cNvPr>
          <p:cNvCxnSpPr>
            <a:cxnSpLocks/>
          </p:cNvCxnSpPr>
          <p:nvPr/>
        </p:nvCxnSpPr>
        <p:spPr>
          <a:xfrm flipH="1">
            <a:off x="3765479" y="3429000"/>
            <a:ext cx="403398" cy="556401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995ABDFD-7331-B1C0-9761-3648C75A2BC6}"/>
              </a:ext>
            </a:extLst>
          </p:cNvPr>
          <p:cNvSpPr/>
          <p:nvPr/>
        </p:nvSpPr>
        <p:spPr>
          <a:xfrm>
            <a:off x="3475565" y="3974972"/>
            <a:ext cx="530942" cy="540775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9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4145BF2-57E3-0A57-2694-99FB7B68B8BB}"/>
              </a:ext>
            </a:extLst>
          </p:cNvPr>
          <p:cNvCxnSpPr/>
          <p:nvPr/>
        </p:nvCxnSpPr>
        <p:spPr>
          <a:xfrm>
            <a:off x="4856582" y="3428999"/>
            <a:ext cx="560439" cy="789039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7BA3D429-737B-A160-9B75-13FC111B4E48}"/>
              </a:ext>
            </a:extLst>
          </p:cNvPr>
          <p:cNvSpPr/>
          <p:nvPr/>
        </p:nvSpPr>
        <p:spPr>
          <a:xfrm>
            <a:off x="5269537" y="4245359"/>
            <a:ext cx="687704" cy="540775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11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AEB3ACF-11DC-0D63-A08D-7517F784CBDE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3008671" y="4245360"/>
            <a:ext cx="466894" cy="540774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FDA4C21D-6C3E-75F0-576C-9D86EE37DA13}"/>
              </a:ext>
            </a:extLst>
          </p:cNvPr>
          <p:cNvSpPr/>
          <p:nvPr/>
        </p:nvSpPr>
        <p:spPr>
          <a:xfrm>
            <a:off x="2691512" y="4786134"/>
            <a:ext cx="530942" cy="540775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5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7C6AB47-C41D-C7B3-5ACC-FCEEA642E7C0}"/>
              </a:ext>
            </a:extLst>
          </p:cNvPr>
          <p:cNvCxnSpPr>
            <a:cxnSpLocks/>
            <a:stCxn id="18" idx="3"/>
          </p:cNvCxnSpPr>
          <p:nvPr/>
        </p:nvCxnSpPr>
        <p:spPr>
          <a:xfrm flipH="1">
            <a:off x="2212258" y="5247714"/>
            <a:ext cx="557009" cy="740131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195B17E-0268-F43E-60B2-CA9B19881F6A}"/>
              </a:ext>
            </a:extLst>
          </p:cNvPr>
          <p:cNvCxnSpPr>
            <a:stCxn id="18" idx="5"/>
          </p:cNvCxnSpPr>
          <p:nvPr/>
        </p:nvCxnSpPr>
        <p:spPr>
          <a:xfrm>
            <a:off x="3144699" y="5247714"/>
            <a:ext cx="424411" cy="740131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DDE3BA6-FF7C-A236-CCA6-AB8CDDB1016F}"/>
              </a:ext>
            </a:extLst>
          </p:cNvPr>
          <p:cNvCxnSpPr>
            <a:cxnSpLocks/>
            <a:stCxn id="7" idx="5"/>
            <a:endCxn id="33" idx="0"/>
          </p:cNvCxnSpPr>
          <p:nvPr/>
        </p:nvCxnSpPr>
        <p:spPr>
          <a:xfrm>
            <a:off x="3928752" y="4436552"/>
            <a:ext cx="490572" cy="1591542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DDAA48D-30A5-34CC-09E7-C5A13567F6EB}"/>
              </a:ext>
            </a:extLst>
          </p:cNvPr>
          <p:cNvCxnSpPr>
            <a:cxnSpLocks/>
            <a:stCxn id="10" idx="3"/>
            <a:endCxn id="34" idx="0"/>
          </p:cNvCxnSpPr>
          <p:nvPr/>
        </p:nvCxnSpPr>
        <p:spPr>
          <a:xfrm flipH="1">
            <a:off x="5332228" y="4706939"/>
            <a:ext cx="38021" cy="1310862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E70C8A0-10E5-4290-A060-61A14891D6B4}"/>
              </a:ext>
            </a:extLst>
          </p:cNvPr>
          <p:cNvCxnSpPr>
            <a:cxnSpLocks/>
            <a:stCxn id="10" idx="5"/>
          </p:cNvCxnSpPr>
          <p:nvPr/>
        </p:nvCxnSpPr>
        <p:spPr>
          <a:xfrm>
            <a:off x="5856529" y="4706939"/>
            <a:ext cx="287803" cy="1444854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15491464-9072-9F82-3916-D69A2570294F}"/>
              </a:ext>
            </a:extLst>
          </p:cNvPr>
          <p:cNvSpPr/>
          <p:nvPr/>
        </p:nvSpPr>
        <p:spPr>
          <a:xfrm>
            <a:off x="1890228" y="5987845"/>
            <a:ext cx="695564" cy="37362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E-2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954436E-8EFA-27C3-9A7E-E9DE6D2B8DC3}"/>
              </a:ext>
            </a:extLst>
          </p:cNvPr>
          <p:cNvSpPr/>
          <p:nvPr/>
        </p:nvSpPr>
        <p:spPr>
          <a:xfrm>
            <a:off x="3188262" y="6007969"/>
            <a:ext cx="695564" cy="382385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A-3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FE0F8D2-0D70-A034-AA40-C92DC48A9FEF}"/>
              </a:ext>
            </a:extLst>
          </p:cNvPr>
          <p:cNvSpPr/>
          <p:nvPr/>
        </p:nvSpPr>
        <p:spPr>
          <a:xfrm>
            <a:off x="4075471" y="6028094"/>
            <a:ext cx="687705" cy="382385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D-4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C64860D-C021-103C-710A-817F2441F7C9}"/>
              </a:ext>
            </a:extLst>
          </p:cNvPr>
          <p:cNvSpPr/>
          <p:nvPr/>
        </p:nvSpPr>
        <p:spPr>
          <a:xfrm>
            <a:off x="4988375" y="6017801"/>
            <a:ext cx="687705" cy="422634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B-5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76038CD-63B7-06FF-9610-1E758F325C07}"/>
              </a:ext>
            </a:extLst>
          </p:cNvPr>
          <p:cNvSpPr/>
          <p:nvPr/>
        </p:nvSpPr>
        <p:spPr>
          <a:xfrm>
            <a:off x="5865402" y="5999057"/>
            <a:ext cx="687705" cy="422634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C-6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2FE4E4-E440-E3C8-7D57-4ECBF7586FAC}"/>
              </a:ext>
            </a:extLst>
          </p:cNvPr>
          <p:cNvSpPr txBox="1"/>
          <p:nvPr/>
        </p:nvSpPr>
        <p:spPr>
          <a:xfrm>
            <a:off x="5199882" y="3506882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DFB9796-C806-8799-63C9-FAEE7C85C5FE}"/>
              </a:ext>
            </a:extLst>
          </p:cNvPr>
          <p:cNvSpPr txBox="1"/>
          <p:nvPr/>
        </p:nvSpPr>
        <p:spPr>
          <a:xfrm>
            <a:off x="6080605" y="5023264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AA5EE94-88E4-2961-B5DC-84D96F80625B}"/>
              </a:ext>
            </a:extLst>
          </p:cNvPr>
          <p:cNvSpPr txBox="1"/>
          <p:nvPr/>
        </p:nvSpPr>
        <p:spPr>
          <a:xfrm>
            <a:off x="3642067" y="334911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602DB88-6B7A-2F29-C691-F0CE76BECC39}"/>
              </a:ext>
            </a:extLst>
          </p:cNvPr>
          <p:cNvSpPr txBox="1"/>
          <p:nvPr/>
        </p:nvSpPr>
        <p:spPr>
          <a:xfrm>
            <a:off x="2956983" y="4225236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F2A9F66-EB2B-2FA9-C6FC-63650D428073}"/>
              </a:ext>
            </a:extLst>
          </p:cNvPr>
          <p:cNvSpPr txBox="1"/>
          <p:nvPr/>
        </p:nvSpPr>
        <p:spPr>
          <a:xfrm>
            <a:off x="2131929" y="525631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2C97506-37FE-715D-C297-20046A5AFD3C}"/>
              </a:ext>
            </a:extLst>
          </p:cNvPr>
          <p:cNvSpPr txBox="1"/>
          <p:nvPr/>
        </p:nvSpPr>
        <p:spPr>
          <a:xfrm>
            <a:off x="5043429" y="5115537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D692412-8B6D-D0B0-4AE6-A20710A4E2F8}"/>
              </a:ext>
            </a:extLst>
          </p:cNvPr>
          <p:cNvSpPr txBox="1"/>
          <p:nvPr/>
        </p:nvSpPr>
        <p:spPr>
          <a:xfrm>
            <a:off x="3420549" y="533229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E96C563-296A-FEFE-895B-911C205F399C}"/>
              </a:ext>
            </a:extLst>
          </p:cNvPr>
          <p:cNvSpPr txBox="1"/>
          <p:nvPr/>
        </p:nvSpPr>
        <p:spPr>
          <a:xfrm>
            <a:off x="4193105" y="490844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4477309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17F3E-3812-85AF-4114-8B844861D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78658"/>
            <a:ext cx="9404723" cy="1774590"/>
          </a:xfrm>
        </p:spPr>
        <p:txBody>
          <a:bodyPr/>
          <a:lstStyle/>
          <a:p>
            <a:pPr algn="ctr"/>
            <a:r>
              <a:rPr lang="en-IN" dirty="0"/>
              <a:t>Simulation</a:t>
            </a:r>
            <a:br>
              <a:rPr lang="en-IN" dirty="0"/>
            </a:br>
            <a:br>
              <a:rPr lang="en-IN" dirty="0"/>
            </a:br>
            <a:r>
              <a:rPr lang="en-IN" sz="2000" dirty="0"/>
              <a:t>Message : BCCABBDDAECCBBAEDDCC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E1F7C71-7362-4581-1F28-A4C564CD49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608179"/>
              </p:ext>
            </p:extLst>
          </p:nvPr>
        </p:nvGraphicFramePr>
        <p:xfrm>
          <a:off x="10301772" y="3325292"/>
          <a:ext cx="1408447" cy="2855805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736602">
                  <a:extLst>
                    <a:ext uri="{9D8B030D-6E8A-4147-A177-3AD203B41FA5}">
                      <a16:colId xmlns:a16="http://schemas.microsoft.com/office/drawing/2014/main" val="1721280356"/>
                    </a:ext>
                  </a:extLst>
                </a:gridCol>
                <a:gridCol w="671845">
                  <a:extLst>
                    <a:ext uri="{9D8B030D-6E8A-4147-A177-3AD203B41FA5}">
                      <a16:colId xmlns:a16="http://schemas.microsoft.com/office/drawing/2014/main" val="3051524449"/>
                    </a:ext>
                  </a:extLst>
                </a:gridCol>
              </a:tblGrid>
              <a:tr h="571161">
                <a:tc>
                  <a:txBody>
                    <a:bodyPr/>
                    <a:lstStyle/>
                    <a:p>
                      <a:r>
                        <a:rPr lang="en-IN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4700052"/>
                  </a:ext>
                </a:extLst>
              </a:tr>
              <a:tr h="571161">
                <a:tc>
                  <a:txBody>
                    <a:bodyPr/>
                    <a:lstStyle/>
                    <a:p>
                      <a:r>
                        <a:rPr lang="en-IN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9398332"/>
                  </a:ext>
                </a:extLst>
              </a:tr>
              <a:tr h="571161">
                <a:tc>
                  <a:txBody>
                    <a:bodyPr/>
                    <a:lstStyle/>
                    <a:p>
                      <a:r>
                        <a:rPr lang="en-IN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8000848"/>
                  </a:ext>
                </a:extLst>
              </a:tr>
              <a:tr h="571161">
                <a:tc>
                  <a:txBody>
                    <a:bodyPr/>
                    <a:lstStyle/>
                    <a:p>
                      <a:r>
                        <a:rPr lang="en-IN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0407554"/>
                  </a:ext>
                </a:extLst>
              </a:tr>
              <a:tr h="571161">
                <a:tc>
                  <a:txBody>
                    <a:bodyPr/>
                    <a:lstStyle/>
                    <a:p>
                      <a:r>
                        <a:rPr lang="en-IN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1240166"/>
                  </a:ext>
                </a:extLst>
              </a:tr>
            </a:tbl>
          </a:graphicData>
        </a:graphic>
      </p:graphicFrame>
      <p:sp>
        <p:nvSpPr>
          <p:cNvPr id="4" name="Oval 3">
            <a:extLst>
              <a:ext uri="{FF2B5EF4-FFF2-40B4-BE49-F238E27FC236}">
                <a16:creationId xmlns:a16="http://schemas.microsoft.com/office/drawing/2014/main" id="{9AAFEE58-736E-4123-6EEA-9AD869A5B2CA}"/>
              </a:ext>
            </a:extLst>
          </p:cNvPr>
          <p:cNvSpPr/>
          <p:nvPr/>
        </p:nvSpPr>
        <p:spPr>
          <a:xfrm>
            <a:off x="4119715" y="2971800"/>
            <a:ext cx="776749" cy="666135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20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D4B28EA-AEB9-7769-F9A4-C205FC84EF41}"/>
              </a:ext>
            </a:extLst>
          </p:cNvPr>
          <p:cNvCxnSpPr>
            <a:cxnSpLocks/>
          </p:cNvCxnSpPr>
          <p:nvPr/>
        </p:nvCxnSpPr>
        <p:spPr>
          <a:xfrm flipH="1">
            <a:off x="3765479" y="3429000"/>
            <a:ext cx="403398" cy="556401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995ABDFD-7331-B1C0-9761-3648C75A2BC6}"/>
              </a:ext>
            </a:extLst>
          </p:cNvPr>
          <p:cNvSpPr/>
          <p:nvPr/>
        </p:nvSpPr>
        <p:spPr>
          <a:xfrm>
            <a:off x="3475565" y="3974972"/>
            <a:ext cx="530942" cy="540775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9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4145BF2-57E3-0A57-2694-99FB7B68B8BB}"/>
              </a:ext>
            </a:extLst>
          </p:cNvPr>
          <p:cNvCxnSpPr/>
          <p:nvPr/>
        </p:nvCxnSpPr>
        <p:spPr>
          <a:xfrm>
            <a:off x="4856582" y="3428999"/>
            <a:ext cx="560439" cy="789039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7BA3D429-737B-A160-9B75-13FC111B4E48}"/>
              </a:ext>
            </a:extLst>
          </p:cNvPr>
          <p:cNvSpPr/>
          <p:nvPr/>
        </p:nvSpPr>
        <p:spPr>
          <a:xfrm>
            <a:off x="5269537" y="4245359"/>
            <a:ext cx="687704" cy="540775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11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AEB3ACF-11DC-0D63-A08D-7517F784CBDE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3008671" y="4245360"/>
            <a:ext cx="466894" cy="540774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FDA4C21D-6C3E-75F0-576C-9D86EE37DA13}"/>
              </a:ext>
            </a:extLst>
          </p:cNvPr>
          <p:cNvSpPr/>
          <p:nvPr/>
        </p:nvSpPr>
        <p:spPr>
          <a:xfrm>
            <a:off x="2691512" y="4786134"/>
            <a:ext cx="530942" cy="540775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5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7C6AB47-C41D-C7B3-5ACC-FCEEA642E7C0}"/>
              </a:ext>
            </a:extLst>
          </p:cNvPr>
          <p:cNvCxnSpPr>
            <a:cxnSpLocks/>
            <a:stCxn id="18" idx="3"/>
          </p:cNvCxnSpPr>
          <p:nvPr/>
        </p:nvCxnSpPr>
        <p:spPr>
          <a:xfrm flipH="1">
            <a:off x="2212258" y="5247714"/>
            <a:ext cx="557009" cy="740131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195B17E-0268-F43E-60B2-CA9B19881F6A}"/>
              </a:ext>
            </a:extLst>
          </p:cNvPr>
          <p:cNvCxnSpPr>
            <a:stCxn id="18" idx="5"/>
          </p:cNvCxnSpPr>
          <p:nvPr/>
        </p:nvCxnSpPr>
        <p:spPr>
          <a:xfrm>
            <a:off x="3144699" y="5247714"/>
            <a:ext cx="424411" cy="740131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DDE3BA6-FF7C-A236-CCA6-AB8CDDB1016F}"/>
              </a:ext>
            </a:extLst>
          </p:cNvPr>
          <p:cNvCxnSpPr>
            <a:cxnSpLocks/>
            <a:stCxn id="7" idx="5"/>
            <a:endCxn id="33" idx="0"/>
          </p:cNvCxnSpPr>
          <p:nvPr/>
        </p:nvCxnSpPr>
        <p:spPr>
          <a:xfrm>
            <a:off x="3928752" y="4436552"/>
            <a:ext cx="490572" cy="1591542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DDAA48D-30A5-34CC-09E7-C5A13567F6EB}"/>
              </a:ext>
            </a:extLst>
          </p:cNvPr>
          <p:cNvCxnSpPr>
            <a:cxnSpLocks/>
            <a:stCxn id="10" idx="3"/>
            <a:endCxn id="34" idx="0"/>
          </p:cNvCxnSpPr>
          <p:nvPr/>
        </p:nvCxnSpPr>
        <p:spPr>
          <a:xfrm flipH="1">
            <a:off x="5332228" y="4706939"/>
            <a:ext cx="38021" cy="1310862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E70C8A0-10E5-4290-A060-61A14891D6B4}"/>
              </a:ext>
            </a:extLst>
          </p:cNvPr>
          <p:cNvCxnSpPr>
            <a:cxnSpLocks/>
            <a:stCxn id="10" idx="5"/>
          </p:cNvCxnSpPr>
          <p:nvPr/>
        </p:nvCxnSpPr>
        <p:spPr>
          <a:xfrm>
            <a:off x="5856529" y="4706939"/>
            <a:ext cx="287803" cy="1444854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15491464-9072-9F82-3916-D69A2570294F}"/>
              </a:ext>
            </a:extLst>
          </p:cNvPr>
          <p:cNvSpPr/>
          <p:nvPr/>
        </p:nvSpPr>
        <p:spPr>
          <a:xfrm>
            <a:off x="1890228" y="5987845"/>
            <a:ext cx="695564" cy="37362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E-2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954436E-8EFA-27C3-9A7E-E9DE6D2B8DC3}"/>
              </a:ext>
            </a:extLst>
          </p:cNvPr>
          <p:cNvSpPr/>
          <p:nvPr/>
        </p:nvSpPr>
        <p:spPr>
          <a:xfrm>
            <a:off x="3188262" y="6007969"/>
            <a:ext cx="695564" cy="382385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A-3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FE0F8D2-0D70-A034-AA40-C92DC48A9FEF}"/>
              </a:ext>
            </a:extLst>
          </p:cNvPr>
          <p:cNvSpPr/>
          <p:nvPr/>
        </p:nvSpPr>
        <p:spPr>
          <a:xfrm>
            <a:off x="4075471" y="6028094"/>
            <a:ext cx="687705" cy="382385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D-4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C64860D-C021-103C-710A-817F2441F7C9}"/>
              </a:ext>
            </a:extLst>
          </p:cNvPr>
          <p:cNvSpPr/>
          <p:nvPr/>
        </p:nvSpPr>
        <p:spPr>
          <a:xfrm>
            <a:off x="4988375" y="6017801"/>
            <a:ext cx="687705" cy="422634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B-5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76038CD-63B7-06FF-9610-1E758F325C07}"/>
              </a:ext>
            </a:extLst>
          </p:cNvPr>
          <p:cNvSpPr/>
          <p:nvPr/>
        </p:nvSpPr>
        <p:spPr>
          <a:xfrm>
            <a:off x="5865402" y="5999057"/>
            <a:ext cx="687705" cy="422634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C-6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2FE4E4-E440-E3C8-7D57-4ECBF7586FAC}"/>
              </a:ext>
            </a:extLst>
          </p:cNvPr>
          <p:cNvSpPr txBox="1"/>
          <p:nvPr/>
        </p:nvSpPr>
        <p:spPr>
          <a:xfrm>
            <a:off x="5199882" y="3506882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DFB9796-C806-8799-63C9-FAEE7C85C5FE}"/>
              </a:ext>
            </a:extLst>
          </p:cNvPr>
          <p:cNvSpPr txBox="1"/>
          <p:nvPr/>
        </p:nvSpPr>
        <p:spPr>
          <a:xfrm>
            <a:off x="6080605" y="5023264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AA5EE94-88E4-2961-B5DC-84D96F80625B}"/>
              </a:ext>
            </a:extLst>
          </p:cNvPr>
          <p:cNvSpPr txBox="1"/>
          <p:nvPr/>
        </p:nvSpPr>
        <p:spPr>
          <a:xfrm>
            <a:off x="3642067" y="334911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602DB88-6B7A-2F29-C691-F0CE76BECC39}"/>
              </a:ext>
            </a:extLst>
          </p:cNvPr>
          <p:cNvSpPr txBox="1"/>
          <p:nvPr/>
        </p:nvSpPr>
        <p:spPr>
          <a:xfrm>
            <a:off x="2956983" y="4225236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F2A9F66-EB2B-2FA9-C6FC-63650D428073}"/>
              </a:ext>
            </a:extLst>
          </p:cNvPr>
          <p:cNvSpPr txBox="1"/>
          <p:nvPr/>
        </p:nvSpPr>
        <p:spPr>
          <a:xfrm>
            <a:off x="2131929" y="525631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2C97506-37FE-715D-C297-20046A5AFD3C}"/>
              </a:ext>
            </a:extLst>
          </p:cNvPr>
          <p:cNvSpPr txBox="1"/>
          <p:nvPr/>
        </p:nvSpPr>
        <p:spPr>
          <a:xfrm>
            <a:off x="5043429" y="5115537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D692412-8B6D-D0B0-4AE6-A20710A4E2F8}"/>
              </a:ext>
            </a:extLst>
          </p:cNvPr>
          <p:cNvSpPr txBox="1"/>
          <p:nvPr/>
        </p:nvSpPr>
        <p:spPr>
          <a:xfrm>
            <a:off x="3420549" y="533229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E96C563-296A-FEFE-895B-911C205F399C}"/>
              </a:ext>
            </a:extLst>
          </p:cNvPr>
          <p:cNvSpPr txBox="1"/>
          <p:nvPr/>
        </p:nvSpPr>
        <p:spPr>
          <a:xfrm>
            <a:off x="4193105" y="490844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D8743C-E076-A816-8818-821067657D24}"/>
              </a:ext>
            </a:extLst>
          </p:cNvPr>
          <p:cNvSpPr txBox="1"/>
          <p:nvPr/>
        </p:nvSpPr>
        <p:spPr>
          <a:xfrm>
            <a:off x="6759031" y="2104538"/>
            <a:ext cx="34173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For A we need 3</a:t>
            </a:r>
          </a:p>
          <a:p>
            <a:r>
              <a:rPr lang="en-IN" dirty="0"/>
              <a:t>bits ,B 2 bits , C 2</a:t>
            </a:r>
          </a:p>
          <a:p>
            <a:r>
              <a:rPr lang="en-IN" dirty="0"/>
              <a:t>Bits, D 2 bits, E 3</a:t>
            </a:r>
          </a:p>
          <a:p>
            <a:r>
              <a:rPr lang="en-IN" dirty="0"/>
              <a:t>bits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E83A29-7503-A77D-B4CC-2F5F894E5647}"/>
              </a:ext>
            </a:extLst>
          </p:cNvPr>
          <p:cNvSpPr txBox="1"/>
          <p:nvPr/>
        </p:nvSpPr>
        <p:spPr>
          <a:xfrm>
            <a:off x="6614352" y="3718442"/>
            <a:ext cx="33398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For A</a:t>
            </a:r>
          </a:p>
          <a:p>
            <a:r>
              <a:rPr lang="en-IN" dirty="0"/>
              <a:t>       Count=3</a:t>
            </a:r>
          </a:p>
          <a:p>
            <a:r>
              <a:rPr lang="en-IN" dirty="0"/>
              <a:t>       So total bits 3*3-9 bits</a:t>
            </a:r>
          </a:p>
          <a:p>
            <a:r>
              <a:rPr lang="en-IN" dirty="0"/>
              <a:t>And so on</a:t>
            </a:r>
          </a:p>
        </p:txBody>
      </p:sp>
    </p:spTree>
    <p:extLst>
      <p:ext uri="{BB962C8B-B14F-4D97-AF65-F5344CB8AC3E}">
        <p14:creationId xmlns:p14="http://schemas.microsoft.com/office/powerpoint/2010/main" val="2978344039"/>
      </p:ext>
    </p:extLst>
  </p:cSld>
  <p:clrMapOvr>
    <a:masterClrMapping/>
  </p:clrMapOvr>
  <p:transition spd="slow">
    <p:randomBar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17F3E-3812-85AF-4114-8B844861D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78658"/>
            <a:ext cx="9404723" cy="1774590"/>
          </a:xfrm>
        </p:spPr>
        <p:txBody>
          <a:bodyPr/>
          <a:lstStyle/>
          <a:p>
            <a:pPr algn="ctr"/>
            <a:r>
              <a:rPr lang="en-IN" dirty="0"/>
              <a:t>Simulation</a:t>
            </a:r>
            <a:br>
              <a:rPr lang="en-IN" dirty="0"/>
            </a:br>
            <a:br>
              <a:rPr lang="en-IN" dirty="0"/>
            </a:br>
            <a:r>
              <a:rPr lang="en-IN" sz="2000" dirty="0"/>
              <a:t>Message : BCCABBDDAECCBBAEDDCC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AAFEE58-736E-4123-6EEA-9AD869A5B2CA}"/>
              </a:ext>
            </a:extLst>
          </p:cNvPr>
          <p:cNvSpPr/>
          <p:nvPr/>
        </p:nvSpPr>
        <p:spPr>
          <a:xfrm>
            <a:off x="4119715" y="2971800"/>
            <a:ext cx="776749" cy="666135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20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D4B28EA-AEB9-7769-F9A4-C205FC84EF41}"/>
              </a:ext>
            </a:extLst>
          </p:cNvPr>
          <p:cNvCxnSpPr>
            <a:cxnSpLocks/>
          </p:cNvCxnSpPr>
          <p:nvPr/>
        </p:nvCxnSpPr>
        <p:spPr>
          <a:xfrm flipH="1">
            <a:off x="3765479" y="3429000"/>
            <a:ext cx="403398" cy="556401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995ABDFD-7331-B1C0-9761-3648C75A2BC6}"/>
              </a:ext>
            </a:extLst>
          </p:cNvPr>
          <p:cNvSpPr/>
          <p:nvPr/>
        </p:nvSpPr>
        <p:spPr>
          <a:xfrm>
            <a:off x="3475565" y="3974972"/>
            <a:ext cx="530942" cy="540775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9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4145BF2-57E3-0A57-2694-99FB7B68B8BB}"/>
              </a:ext>
            </a:extLst>
          </p:cNvPr>
          <p:cNvCxnSpPr/>
          <p:nvPr/>
        </p:nvCxnSpPr>
        <p:spPr>
          <a:xfrm>
            <a:off x="4856582" y="3428999"/>
            <a:ext cx="560439" cy="789039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7BA3D429-737B-A160-9B75-13FC111B4E48}"/>
              </a:ext>
            </a:extLst>
          </p:cNvPr>
          <p:cNvSpPr/>
          <p:nvPr/>
        </p:nvSpPr>
        <p:spPr>
          <a:xfrm>
            <a:off x="5269537" y="4245359"/>
            <a:ext cx="687704" cy="540775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11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AEB3ACF-11DC-0D63-A08D-7517F784CBDE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3008671" y="4245360"/>
            <a:ext cx="466894" cy="540774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FDA4C21D-6C3E-75F0-576C-9D86EE37DA13}"/>
              </a:ext>
            </a:extLst>
          </p:cNvPr>
          <p:cNvSpPr/>
          <p:nvPr/>
        </p:nvSpPr>
        <p:spPr>
          <a:xfrm>
            <a:off x="2691512" y="4786134"/>
            <a:ext cx="530942" cy="540775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5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7C6AB47-C41D-C7B3-5ACC-FCEEA642E7C0}"/>
              </a:ext>
            </a:extLst>
          </p:cNvPr>
          <p:cNvCxnSpPr>
            <a:cxnSpLocks/>
            <a:stCxn id="18" idx="3"/>
          </p:cNvCxnSpPr>
          <p:nvPr/>
        </p:nvCxnSpPr>
        <p:spPr>
          <a:xfrm flipH="1">
            <a:off x="2212258" y="5247714"/>
            <a:ext cx="557009" cy="740131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195B17E-0268-F43E-60B2-CA9B19881F6A}"/>
              </a:ext>
            </a:extLst>
          </p:cNvPr>
          <p:cNvCxnSpPr>
            <a:stCxn id="18" idx="5"/>
          </p:cNvCxnSpPr>
          <p:nvPr/>
        </p:nvCxnSpPr>
        <p:spPr>
          <a:xfrm>
            <a:off x="3144699" y="5247714"/>
            <a:ext cx="424411" cy="740131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DDE3BA6-FF7C-A236-CCA6-AB8CDDB1016F}"/>
              </a:ext>
            </a:extLst>
          </p:cNvPr>
          <p:cNvCxnSpPr>
            <a:cxnSpLocks/>
            <a:stCxn id="7" idx="5"/>
            <a:endCxn id="33" idx="0"/>
          </p:cNvCxnSpPr>
          <p:nvPr/>
        </p:nvCxnSpPr>
        <p:spPr>
          <a:xfrm>
            <a:off x="3928752" y="4436552"/>
            <a:ext cx="490572" cy="1591542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DDAA48D-30A5-34CC-09E7-C5A13567F6EB}"/>
              </a:ext>
            </a:extLst>
          </p:cNvPr>
          <p:cNvCxnSpPr>
            <a:cxnSpLocks/>
            <a:stCxn id="10" idx="3"/>
            <a:endCxn id="34" idx="0"/>
          </p:cNvCxnSpPr>
          <p:nvPr/>
        </p:nvCxnSpPr>
        <p:spPr>
          <a:xfrm flipH="1">
            <a:off x="5332228" y="4706939"/>
            <a:ext cx="38021" cy="1310862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E70C8A0-10E5-4290-A060-61A14891D6B4}"/>
              </a:ext>
            </a:extLst>
          </p:cNvPr>
          <p:cNvCxnSpPr>
            <a:cxnSpLocks/>
            <a:stCxn id="10" idx="5"/>
          </p:cNvCxnSpPr>
          <p:nvPr/>
        </p:nvCxnSpPr>
        <p:spPr>
          <a:xfrm>
            <a:off x="5856529" y="4706939"/>
            <a:ext cx="287803" cy="1444854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15491464-9072-9F82-3916-D69A2570294F}"/>
              </a:ext>
            </a:extLst>
          </p:cNvPr>
          <p:cNvSpPr/>
          <p:nvPr/>
        </p:nvSpPr>
        <p:spPr>
          <a:xfrm>
            <a:off x="1890228" y="5987845"/>
            <a:ext cx="695564" cy="37362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E-2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954436E-8EFA-27C3-9A7E-E9DE6D2B8DC3}"/>
              </a:ext>
            </a:extLst>
          </p:cNvPr>
          <p:cNvSpPr/>
          <p:nvPr/>
        </p:nvSpPr>
        <p:spPr>
          <a:xfrm>
            <a:off x="3188262" y="6007969"/>
            <a:ext cx="695564" cy="382385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A-3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FE0F8D2-0D70-A034-AA40-C92DC48A9FEF}"/>
              </a:ext>
            </a:extLst>
          </p:cNvPr>
          <p:cNvSpPr/>
          <p:nvPr/>
        </p:nvSpPr>
        <p:spPr>
          <a:xfrm>
            <a:off x="4075471" y="6028094"/>
            <a:ext cx="687705" cy="382385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D-4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C64860D-C021-103C-710A-817F2441F7C9}"/>
              </a:ext>
            </a:extLst>
          </p:cNvPr>
          <p:cNvSpPr/>
          <p:nvPr/>
        </p:nvSpPr>
        <p:spPr>
          <a:xfrm>
            <a:off x="4988375" y="6017801"/>
            <a:ext cx="687705" cy="422634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B-5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76038CD-63B7-06FF-9610-1E758F325C07}"/>
              </a:ext>
            </a:extLst>
          </p:cNvPr>
          <p:cNvSpPr/>
          <p:nvPr/>
        </p:nvSpPr>
        <p:spPr>
          <a:xfrm>
            <a:off x="5865402" y="5999057"/>
            <a:ext cx="687705" cy="422634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C-6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2FE4E4-E440-E3C8-7D57-4ECBF7586FAC}"/>
              </a:ext>
            </a:extLst>
          </p:cNvPr>
          <p:cNvSpPr txBox="1"/>
          <p:nvPr/>
        </p:nvSpPr>
        <p:spPr>
          <a:xfrm>
            <a:off x="5199882" y="3506882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DFB9796-C806-8799-63C9-FAEE7C85C5FE}"/>
              </a:ext>
            </a:extLst>
          </p:cNvPr>
          <p:cNvSpPr txBox="1"/>
          <p:nvPr/>
        </p:nvSpPr>
        <p:spPr>
          <a:xfrm>
            <a:off x="6080605" y="5023264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AA5EE94-88E4-2961-B5DC-84D96F80625B}"/>
              </a:ext>
            </a:extLst>
          </p:cNvPr>
          <p:cNvSpPr txBox="1"/>
          <p:nvPr/>
        </p:nvSpPr>
        <p:spPr>
          <a:xfrm>
            <a:off x="3642067" y="334911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602DB88-6B7A-2F29-C691-F0CE76BECC39}"/>
              </a:ext>
            </a:extLst>
          </p:cNvPr>
          <p:cNvSpPr txBox="1"/>
          <p:nvPr/>
        </p:nvSpPr>
        <p:spPr>
          <a:xfrm>
            <a:off x="2956983" y="4225236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F2A9F66-EB2B-2FA9-C6FC-63650D428073}"/>
              </a:ext>
            </a:extLst>
          </p:cNvPr>
          <p:cNvSpPr txBox="1"/>
          <p:nvPr/>
        </p:nvSpPr>
        <p:spPr>
          <a:xfrm>
            <a:off x="2131929" y="525631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2C97506-37FE-715D-C297-20046A5AFD3C}"/>
              </a:ext>
            </a:extLst>
          </p:cNvPr>
          <p:cNvSpPr txBox="1"/>
          <p:nvPr/>
        </p:nvSpPr>
        <p:spPr>
          <a:xfrm>
            <a:off x="5043429" y="5115537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D692412-8B6D-D0B0-4AE6-A20710A4E2F8}"/>
              </a:ext>
            </a:extLst>
          </p:cNvPr>
          <p:cNvSpPr txBox="1"/>
          <p:nvPr/>
        </p:nvSpPr>
        <p:spPr>
          <a:xfrm>
            <a:off x="3420549" y="533229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E96C563-296A-FEFE-895B-911C205F399C}"/>
              </a:ext>
            </a:extLst>
          </p:cNvPr>
          <p:cNvSpPr txBox="1"/>
          <p:nvPr/>
        </p:nvSpPr>
        <p:spPr>
          <a:xfrm>
            <a:off x="4193105" y="490844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graphicFrame>
        <p:nvGraphicFramePr>
          <p:cNvPr id="14" name="Content Placeholder 13">
            <a:extLst>
              <a:ext uri="{FF2B5EF4-FFF2-40B4-BE49-F238E27FC236}">
                <a16:creationId xmlns:a16="http://schemas.microsoft.com/office/drawing/2014/main" id="{182CCF3A-8172-315E-E645-B0A21C9E4E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4114088"/>
              </p:ext>
            </p:extLst>
          </p:nvPr>
        </p:nvGraphicFramePr>
        <p:xfrm>
          <a:off x="7649497" y="2052637"/>
          <a:ext cx="4109884" cy="246311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27471">
                  <a:extLst>
                    <a:ext uri="{9D8B030D-6E8A-4147-A177-3AD203B41FA5}">
                      <a16:colId xmlns:a16="http://schemas.microsoft.com/office/drawing/2014/main" val="3672581195"/>
                    </a:ext>
                  </a:extLst>
                </a:gridCol>
                <a:gridCol w="1027471">
                  <a:extLst>
                    <a:ext uri="{9D8B030D-6E8A-4147-A177-3AD203B41FA5}">
                      <a16:colId xmlns:a16="http://schemas.microsoft.com/office/drawing/2014/main" val="1171570380"/>
                    </a:ext>
                  </a:extLst>
                </a:gridCol>
                <a:gridCol w="1027471">
                  <a:extLst>
                    <a:ext uri="{9D8B030D-6E8A-4147-A177-3AD203B41FA5}">
                      <a16:colId xmlns:a16="http://schemas.microsoft.com/office/drawing/2014/main" val="3973479214"/>
                    </a:ext>
                  </a:extLst>
                </a:gridCol>
                <a:gridCol w="1027471">
                  <a:extLst>
                    <a:ext uri="{9D8B030D-6E8A-4147-A177-3AD203B41FA5}">
                      <a16:colId xmlns:a16="http://schemas.microsoft.com/office/drawing/2014/main" val="314824094"/>
                    </a:ext>
                  </a:extLst>
                </a:gridCol>
              </a:tblGrid>
              <a:tr h="492622">
                <a:tc>
                  <a:txBody>
                    <a:bodyPr/>
                    <a:lstStyle/>
                    <a:p>
                      <a:r>
                        <a:rPr lang="en-IN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3x3=9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041574"/>
                  </a:ext>
                </a:extLst>
              </a:tr>
              <a:tr h="492622">
                <a:tc>
                  <a:txBody>
                    <a:bodyPr/>
                    <a:lstStyle/>
                    <a:p>
                      <a:r>
                        <a:rPr lang="en-IN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5x2=10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5926333"/>
                  </a:ext>
                </a:extLst>
              </a:tr>
              <a:tr h="492622">
                <a:tc>
                  <a:txBody>
                    <a:bodyPr/>
                    <a:lstStyle/>
                    <a:p>
                      <a:r>
                        <a:rPr lang="en-IN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6x2=12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7236940"/>
                  </a:ext>
                </a:extLst>
              </a:tr>
              <a:tr h="492622">
                <a:tc>
                  <a:txBody>
                    <a:bodyPr/>
                    <a:lstStyle/>
                    <a:p>
                      <a:r>
                        <a:rPr lang="en-IN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4x2=8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2240960"/>
                  </a:ext>
                </a:extLst>
              </a:tr>
              <a:tr h="492622">
                <a:tc>
                  <a:txBody>
                    <a:bodyPr/>
                    <a:lstStyle/>
                    <a:p>
                      <a:r>
                        <a:rPr lang="en-IN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2x3=6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3588278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73FBBA4B-9C7F-D6CB-44F1-6CC5672A67BD}"/>
              </a:ext>
            </a:extLst>
          </p:cNvPr>
          <p:cNvSpPr txBox="1"/>
          <p:nvPr/>
        </p:nvSpPr>
        <p:spPr>
          <a:xfrm>
            <a:off x="10481187" y="4557881"/>
            <a:ext cx="15043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Total=45 bits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6BC7AF-A5FC-E1EB-6204-278473F5AE47}"/>
              </a:ext>
            </a:extLst>
          </p:cNvPr>
          <p:cNvSpPr txBox="1"/>
          <p:nvPr/>
        </p:nvSpPr>
        <p:spPr>
          <a:xfrm>
            <a:off x="7393858" y="5207930"/>
            <a:ext cx="44736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As we see first we do need 160 bits and now we need 45 bits now we have compressed the cost and size.</a:t>
            </a:r>
          </a:p>
        </p:txBody>
      </p:sp>
    </p:spTree>
    <p:extLst>
      <p:ext uri="{BB962C8B-B14F-4D97-AF65-F5344CB8AC3E}">
        <p14:creationId xmlns:p14="http://schemas.microsoft.com/office/powerpoint/2010/main" val="282825923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00D9F-5469-C1AB-6465-2F843B274B3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452438"/>
            <a:ext cx="9404350" cy="1400175"/>
          </a:xfrm>
        </p:spPr>
        <p:txBody>
          <a:bodyPr/>
          <a:lstStyle/>
          <a:p>
            <a:pPr algn="ctr"/>
            <a:r>
              <a:rPr lang="en-IN" dirty="0"/>
              <a:t>Time Complexity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5BF11B-6B11-83CC-BBD6-E8B75C356AA0}"/>
              </a:ext>
            </a:extLst>
          </p:cNvPr>
          <p:cNvSpPr/>
          <p:nvPr/>
        </p:nvSpPr>
        <p:spPr>
          <a:xfrm>
            <a:off x="110510" y="1337187"/>
            <a:ext cx="5985490" cy="552081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Arial Black" panose="020B0A04020102020204" pitchFamily="34" charset="0"/>
              </a:rPr>
              <a:t>Pseudo-code</a:t>
            </a:r>
          </a:p>
          <a:p>
            <a:pPr algn="ctr"/>
            <a:endParaRPr lang="en-IN" b="1" dirty="0">
              <a:latin typeface="Arial Black" panose="020B0A04020102020204" pitchFamily="34" charset="0"/>
            </a:endParaRPr>
          </a:p>
          <a:p>
            <a:pPr algn="ctr"/>
            <a:endParaRPr lang="en-IN" dirty="0"/>
          </a:p>
          <a:p>
            <a:r>
              <a:rPr lang="en-IN" dirty="0"/>
              <a:t>Huffman(c)</a:t>
            </a:r>
          </a:p>
          <a:p>
            <a:r>
              <a:rPr lang="en-IN" dirty="0"/>
              <a:t>N=|c|</a:t>
            </a:r>
          </a:p>
          <a:p>
            <a:r>
              <a:rPr lang="en-IN" dirty="0"/>
              <a:t>Q=c</a:t>
            </a:r>
          </a:p>
          <a:p>
            <a:r>
              <a:rPr lang="en-IN" dirty="0"/>
              <a:t>For I = 1 to n-1</a:t>
            </a:r>
          </a:p>
          <a:p>
            <a:r>
              <a:rPr lang="en-IN" dirty="0"/>
              <a:t>Allocate new node z</a:t>
            </a:r>
          </a:p>
          <a:p>
            <a:r>
              <a:rPr lang="en-IN" dirty="0" err="1"/>
              <a:t>z.left</a:t>
            </a:r>
            <a:r>
              <a:rPr lang="en-IN" dirty="0"/>
              <a:t> = x = Extract-min(Q)</a:t>
            </a:r>
          </a:p>
          <a:p>
            <a:r>
              <a:rPr lang="en-IN" dirty="0" err="1"/>
              <a:t>z.right</a:t>
            </a:r>
            <a:r>
              <a:rPr lang="en-IN" dirty="0"/>
              <a:t> = y = Extract-min(Q)</a:t>
            </a:r>
          </a:p>
          <a:p>
            <a:r>
              <a:rPr lang="en-IN" dirty="0"/>
              <a:t>Insert(Q, z)</a:t>
            </a:r>
          </a:p>
          <a:p>
            <a:r>
              <a:rPr lang="en-IN" dirty="0"/>
              <a:t>Return Extract-min(Q)// return the root</a:t>
            </a:r>
          </a:p>
          <a:p>
            <a:endParaRPr lang="en-IN" dirty="0"/>
          </a:p>
          <a:p>
            <a:r>
              <a:rPr lang="en-IN" dirty="0"/>
              <a:t>Complexity=0(n </a:t>
            </a:r>
            <a:r>
              <a:rPr lang="en-IN" dirty="0" err="1"/>
              <a:t>lg</a:t>
            </a:r>
            <a:r>
              <a:rPr lang="en-IN" dirty="0"/>
              <a:t> n)</a:t>
            </a:r>
          </a:p>
          <a:p>
            <a:pPr algn="ctr"/>
            <a:endParaRPr lang="en-IN" dirty="0"/>
          </a:p>
          <a:p>
            <a:pPr algn="ctr"/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77F901-7C00-48D5-E35B-12C1307126B6}"/>
              </a:ext>
            </a:extLst>
          </p:cNvPr>
          <p:cNvSpPr txBox="1"/>
          <p:nvPr/>
        </p:nvSpPr>
        <p:spPr>
          <a:xfrm>
            <a:off x="6784258" y="2733368"/>
            <a:ext cx="47686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Time complexity of Huffman Coding is O(</a:t>
            </a:r>
            <a:r>
              <a:rPr lang="en-IN" sz="2400" dirty="0" err="1"/>
              <a:t>nlogn</a:t>
            </a:r>
            <a:r>
              <a:rPr lang="en-IN" sz="2400" dirty="0"/>
              <a:t>) ,where n is the number of unique characters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2999848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F3A2E-C0E5-2FE6-8E72-039874AF4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Advantages/Disadvantages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F7A819-6022-B1B9-7091-EA25BFDC2C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155" y="1474840"/>
            <a:ext cx="11897031" cy="53831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>
                <a:solidFill>
                  <a:srgbClr val="92D050"/>
                </a:solidFill>
              </a:rPr>
              <a:t>Advantages 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The Huffman coding has the minimum average length.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Easy to implement and fast.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  <a:p>
            <a:pPr marL="0" indent="0">
              <a:buNone/>
            </a:pPr>
            <a:r>
              <a:rPr lang="en-IN" sz="2400" dirty="0">
                <a:solidFill>
                  <a:srgbClr val="92D050"/>
                </a:solidFill>
              </a:rPr>
              <a:t>Disadvantages 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Requires two passes  over the two input (one to computer frequencies, one for coding), thus encoding is slow.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Requires storing the Huffman codes(or at least character frequencies)in the encoded file, thus reducing the compression benefit obtained by encoding.</a:t>
            </a:r>
          </a:p>
        </p:txBody>
      </p:sp>
    </p:spTree>
    <p:extLst>
      <p:ext uri="{BB962C8B-B14F-4D97-AF65-F5344CB8AC3E}">
        <p14:creationId xmlns:p14="http://schemas.microsoft.com/office/powerpoint/2010/main" val="167542709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5D115-6C65-90C5-C5BB-3732654E9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1700981"/>
            <a:ext cx="8825660" cy="2153264"/>
          </a:xfrm>
        </p:spPr>
        <p:txBody>
          <a:bodyPr/>
          <a:lstStyle/>
          <a:p>
            <a:pPr algn="ctr"/>
            <a:r>
              <a:rPr lang="en-IN" sz="88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43183742"/>
      </p:ext>
    </p:extLst>
  </p:cSld>
  <p:clrMapOvr>
    <a:masterClrMapping/>
  </p:clrMapOvr>
  <p:transition spd="slow">
    <p:comb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196</TotalTime>
  <Words>653</Words>
  <Application>Microsoft Office PowerPoint</Application>
  <PresentationFormat>Widescreen</PresentationFormat>
  <Paragraphs>215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Arial Black</vt:lpstr>
      <vt:lpstr>Century Gothic</vt:lpstr>
      <vt:lpstr>Wingdings</vt:lpstr>
      <vt:lpstr>Wingdings 3</vt:lpstr>
      <vt:lpstr>Ion</vt:lpstr>
      <vt:lpstr>Algorithm presentation </vt:lpstr>
      <vt:lpstr>Contents</vt:lpstr>
      <vt:lpstr>Definition</vt:lpstr>
      <vt:lpstr>Message –BCCABBDDAECCBBAEDDCC Length-20</vt:lpstr>
      <vt:lpstr>Simulation  Message : BCCABBDDAECCBBAEDDCC</vt:lpstr>
      <vt:lpstr>Simulation  Message : BCCABBDDAECCBBAEDDCC </vt:lpstr>
      <vt:lpstr>Simulation  Message : BCCABBDDAECCBBAEDDCC</vt:lpstr>
      <vt:lpstr>Simulation  Message : BCCABBDDAECCBBAEDDCC</vt:lpstr>
      <vt:lpstr>Simulation  Message : BCCABBDDAECCBBAEDDCC</vt:lpstr>
      <vt:lpstr>Simulation  Message : BCCABBDDAECCBBAEDDCC</vt:lpstr>
      <vt:lpstr>Time Complexity</vt:lpstr>
      <vt:lpstr>Advantages/Disadvantages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vishwa patel</dc:creator>
  <cp:lastModifiedBy>vishwa patel</cp:lastModifiedBy>
  <cp:revision>1</cp:revision>
  <dcterms:created xsi:type="dcterms:W3CDTF">2024-09-18T10:19:32Z</dcterms:created>
  <dcterms:modified xsi:type="dcterms:W3CDTF">2024-12-07T15:16:44Z</dcterms:modified>
</cp:coreProperties>
</file>